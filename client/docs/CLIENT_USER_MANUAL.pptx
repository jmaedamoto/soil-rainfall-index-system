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E4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E4D5"/>
          </a:solidFill>
          <a:ln w="12700">
            <a:solidFill>
              <a:srgbClr val="EEE4D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749808"/>
            <a:ext cx="201168" cy="5349240"/>
          </a:xfrm>
          <a:prstGeom prst="rect">
            <a:avLst/>
          </a:prstGeom>
          <a:solidFill>
            <a:srgbClr val="A64E36"/>
          </a:solidFill>
          <a:ln w="12700">
            <a:solidFill>
              <a:srgbClr val="A64E3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11155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9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土壌雨量指数監視システム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" y="1755648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64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クライアント操作マニュアル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70432" y="254203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C4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画面の基本操作、表示内容の見方、雨量調整機能の利用方法を説明します。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37960" y="914400"/>
            <a:ext cx="4983480" cy="4160520"/>
          </a:xfrm>
          <a:prstGeom prst="roundRect">
            <a:avLst>
              <a:gd name="adj" fmla="val 1758"/>
            </a:avLst>
          </a:prstGeom>
          <a:solidFill>
            <a:srgbClr val="FFFDFC"/>
          </a:solidFill>
          <a:ln w="12700">
            <a:solidFill>
              <a:srgbClr val="D2C3AF"/>
            </a:solidFill>
            <a:prstDash val="solid"/>
          </a:ln>
          <a:effectLst>
            <a:outerShdw sx="100000" sy="100000" kx="0" ky="0" algn="bl" rotWithShape="0" blurRad="25400" dist="50800" dir="2700000">
              <a:srgbClr val="B4A28D">
                <a:alpha val="15000"/>
              </a:srgbClr>
            </a:outerShdw>
          </a:effectLst>
        </p:spPr>
      </p:sp>
      <p:pic>
        <p:nvPicPr>
          <p:cNvPr id="8" name="Image 0" descr="/workspaces/soil-rainfall-index-system/client/docs/manual-assets/02-loaded-scree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20840" y="1097280"/>
            <a:ext cx="4617720" cy="3794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0432" y="47091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3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対象: エンドユーザー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70432" y="501091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3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作成物: 操作説明用 PowerPoint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A64E36"/>
          </a:solidFill>
          <a:ln w="12700">
            <a:solidFill>
              <a:srgbClr val="A64E3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D8CCB8"/>
          </a:solidFill>
          <a:ln w="12700">
            <a:solidFill>
              <a:srgbClr val="D8CCB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42976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A64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2B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表紙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38912" y="914400"/>
            <a:ext cx="11201400" cy="5440680"/>
          </a:xfrm>
          <a:prstGeom prst="roundRect">
            <a:avLst>
              <a:gd name="adj" fmla="val 840"/>
            </a:avLst>
          </a:prstGeom>
          <a:solidFill>
            <a:srgbClr val="FFFCF8"/>
          </a:solidFill>
          <a:ln w="12700">
            <a:solidFill>
              <a:srgbClr val="D8CC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115568"/>
            <a:ext cx="10744200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タイトル: 土壌雨量指数監視システム 操作マニュアル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サブタイトル: クライアント利用者向け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補足: 本資料は、画面の基本操作、表示内容の見方、雨量調整機能の利用方法を説明する。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642823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5F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土壌雨量指数監視システム クライアント操作マニュアル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A64E36"/>
          </a:solidFill>
          <a:ln w="12700">
            <a:solidFill>
              <a:srgbClr val="A64E3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D8CCB8"/>
          </a:solidFill>
          <a:ln w="12700">
            <a:solidFill>
              <a:srgbClr val="D8CCB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42976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A64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2B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システム概要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38912" y="914400"/>
            <a:ext cx="11201400" cy="5440680"/>
          </a:xfrm>
          <a:prstGeom prst="roundRect">
            <a:avLst>
              <a:gd name="adj" fmla="val 840"/>
            </a:avLst>
          </a:prstGeom>
          <a:solidFill>
            <a:srgbClr val="FFFCF8"/>
          </a:solidFill>
          <a:ln w="12700">
            <a:solidFill>
              <a:srgbClr val="D8CC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115568"/>
            <a:ext cx="10744200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このシステムでは、土壌雨量指数に関する計算結果を地図とグラフで確認できる。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対象時刻の危険度や雨量予測を確認し、必要に応じて雨量調整を行って再計算できる。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主な操作は「データ取得」「都道府県選択」「時刻切替」「雨量調整」である。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642823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5F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土壌雨量指数監視システム クライアント操作マニュアル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A64E36"/>
          </a:solidFill>
          <a:ln w="12700">
            <a:solidFill>
              <a:srgbClr val="A64E3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D8CCB8"/>
          </a:solidFill>
          <a:ln w="12700">
            <a:solidFill>
              <a:srgbClr val="D8CCB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42976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A64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2B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画面全体の見方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38912" y="914400"/>
            <a:ext cx="4754880" cy="5321808"/>
          </a:xfrm>
          <a:prstGeom prst="roundRect">
            <a:avLst>
              <a:gd name="adj" fmla="val 962"/>
            </a:avLst>
          </a:prstGeom>
          <a:solidFill>
            <a:srgbClr val="FFFCF8"/>
          </a:solidFill>
          <a:ln w="12700">
            <a:solidFill>
              <a:srgbClr val="D8CC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115568"/>
            <a:ext cx="4315968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画面上部: データ取得設定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中央付近: セッション情報、雨量調整ボタン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下部: 地図表示、棒グラフ表示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目的: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条件を指定して計算結果を取得する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都道府県や時刻を切り替えて危険度を確認する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必要に応じて雨量調整を行う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321808" y="914400"/>
            <a:ext cx="6309360" cy="5321808"/>
          </a:xfrm>
          <a:prstGeom prst="roundRect">
            <a:avLst>
              <a:gd name="adj" fmla="val 859"/>
            </a:avLst>
          </a:prstGeom>
          <a:solidFill>
            <a:srgbClr val="FFFCF8"/>
          </a:solidFill>
          <a:ln w="12700">
            <a:solidFill>
              <a:srgbClr val="D8CCB8"/>
            </a:solidFill>
            <a:prstDash val="solid"/>
          </a:ln>
        </p:spPr>
      </p:sp>
      <p:pic>
        <p:nvPicPr>
          <p:cNvPr id="9" name="Image 0" descr="/workspaces/soil-rainfall-index-system/client/docs/manual-assets/01-initial-scree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04688" y="1097280"/>
            <a:ext cx="5925312" cy="46177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532120" y="58064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6F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画面例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2920" y="642823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5F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土壌雨量指数監視システム クライアント操作マニュアル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A64E36"/>
          </a:solidFill>
          <a:ln w="12700">
            <a:solidFill>
              <a:srgbClr val="A64E3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D8CCB8"/>
          </a:solidFill>
          <a:ln w="12700">
            <a:solidFill>
              <a:srgbClr val="D8CCB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42976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A64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2B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データ取得設定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38912" y="914400"/>
            <a:ext cx="11201400" cy="5440680"/>
          </a:xfrm>
          <a:prstGeom prst="roundRect">
            <a:avLst>
              <a:gd name="adj" fmla="val 840"/>
            </a:avLst>
          </a:prstGeom>
          <a:solidFill>
            <a:srgbClr val="FFFCF8"/>
          </a:solidFill>
          <a:ln w="12700">
            <a:solidFill>
              <a:srgbClr val="D8CC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115568"/>
            <a:ext cx="10744200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設定する項目: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危険度ルール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ガイダンス種別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土壌雨量指数の日時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ガイダンスの日時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注意: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気象庁データはデータ時刻から約3時間後に利用可能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最新時刻を選ぶと、データ未公開のため取得できない場合がある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642823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5F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土壌雨量指数監視システム クライアント操作マニュアル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A64E36"/>
          </a:solidFill>
          <a:ln w="12700">
            <a:solidFill>
              <a:srgbClr val="A64E3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D8CCB8"/>
          </a:solidFill>
          <a:ln w="12700">
            <a:solidFill>
              <a:srgbClr val="D8CCB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42976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A64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2B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危険度ルールの説明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38912" y="914400"/>
            <a:ext cx="11201400" cy="5440680"/>
          </a:xfrm>
          <a:prstGeom prst="roundRect">
            <a:avLst>
              <a:gd name="adj" fmla="val 840"/>
            </a:avLst>
          </a:prstGeom>
          <a:solidFill>
            <a:srgbClr val="FFFCF8"/>
          </a:solidFill>
          <a:ln w="12700">
            <a:solidFill>
              <a:srgbClr val="D8CC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115568"/>
            <a:ext cx="10744200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従来ルール: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従来の危険度判定方法で表示する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レベル4先行ルール: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レベル4に最初に到達する2時間前以降をレベル3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レベル4に最初に到達する6時間前以降をレベル2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運用上の使い分け: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従来の比較確認には従来ルール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先行的な危険把握にはレベル4先行ルール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642823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5F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土壌雨量指数監視システム クライアント操作マニュアル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A64E36"/>
          </a:solidFill>
          <a:ln w="12700">
            <a:solidFill>
              <a:srgbClr val="A64E3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D8CCB8"/>
          </a:solidFill>
          <a:ln w="12700">
            <a:solidFill>
              <a:srgbClr val="D8CCB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42976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A64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2B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ガイダンス種別の説明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38912" y="914400"/>
            <a:ext cx="11201400" cy="5440680"/>
          </a:xfrm>
          <a:prstGeom prst="roundRect">
            <a:avLst>
              <a:gd name="adj" fmla="val 840"/>
            </a:avLst>
          </a:prstGeom>
          <a:solidFill>
            <a:srgbClr val="FFFCF8"/>
          </a:solidFill>
          <a:ln w="12700">
            <a:solidFill>
              <a:srgbClr val="D8CC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115568"/>
            <a:ext cx="10744200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MSM: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3時間ごとの初期時刻を選択可能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比較的細かい時間単位で確認したい場合に使用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GSM: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JST 03時、09時、15時、21時を選択可能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広域的な予測を確認したい場合に使用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642823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5F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土壌雨量指数監視システム クライアント操作マニュアル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A64E36"/>
          </a:solidFill>
          <a:ln w="12700">
            <a:solidFill>
              <a:srgbClr val="A64E3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D8CCB8"/>
          </a:solidFill>
          <a:ln w="12700">
            <a:solidFill>
              <a:srgbClr val="D8CCB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42976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A64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2B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データ取得の流れ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38912" y="914400"/>
            <a:ext cx="4754880" cy="5321808"/>
          </a:xfrm>
          <a:prstGeom prst="roundRect">
            <a:avLst>
              <a:gd name="adj" fmla="val 962"/>
            </a:avLst>
          </a:prstGeom>
          <a:solidFill>
            <a:srgbClr val="FFFCF8"/>
          </a:solidFill>
          <a:ln w="12700">
            <a:solidFill>
              <a:srgbClr val="D8CC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115568"/>
            <a:ext cx="4315968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手順: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危険度ルールを選択する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ガイダンス種別を選択する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土壌雨量指数とガイダンスの日時を指定する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4. `データを取得` ボタンを押す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補足: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計算には2〜3分程度かかる場合がある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取得後にセッションIDと利用可能な都道府県が表示される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321808" y="914400"/>
            <a:ext cx="6309360" cy="5321808"/>
          </a:xfrm>
          <a:prstGeom prst="roundRect">
            <a:avLst>
              <a:gd name="adj" fmla="val 859"/>
            </a:avLst>
          </a:prstGeom>
          <a:solidFill>
            <a:srgbClr val="FFFCF8"/>
          </a:solidFill>
          <a:ln w="12700">
            <a:solidFill>
              <a:srgbClr val="D8CCB8"/>
            </a:solidFill>
            <a:prstDash val="solid"/>
          </a:ln>
        </p:spPr>
      </p:sp>
      <p:pic>
        <p:nvPicPr>
          <p:cNvPr id="9" name="Image 0" descr="/workspaces/soil-rainfall-index-system/client/docs/manual-assets/02-loaded-scree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04688" y="1097280"/>
            <a:ext cx="5925312" cy="46177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532120" y="58064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6F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画面例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2920" y="642823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5F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土壌雨量指数監視システム クライアント操作マニュアル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A64E36"/>
          </a:solidFill>
          <a:ln w="12700">
            <a:solidFill>
              <a:srgbClr val="A64E3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D8CCB8"/>
          </a:solidFill>
          <a:ln w="12700">
            <a:solidFill>
              <a:srgbClr val="D8CCB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42976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A64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2B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セッション情報の見方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38912" y="914400"/>
            <a:ext cx="11201400" cy="5440680"/>
          </a:xfrm>
          <a:prstGeom prst="roundRect">
            <a:avLst>
              <a:gd name="adj" fmla="val 840"/>
            </a:avLst>
          </a:prstGeom>
          <a:solidFill>
            <a:srgbClr val="FFFCF8"/>
          </a:solidFill>
          <a:ln w="12700">
            <a:solidFill>
              <a:srgbClr val="D8CC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115568"/>
            <a:ext cx="10744200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表示内容: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セッションID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利用可能な都道府県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データ転送量の目安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雨量調整後: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`雨量調整済みデータ` と表示される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これは、利用者が編集した雨量予想に基づく再計算結果である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642823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5F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土壌雨量指数監視システム クライアント操作マニュアル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A64E36"/>
          </a:solidFill>
          <a:ln w="12700">
            <a:solidFill>
              <a:srgbClr val="A64E3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D8CCB8"/>
          </a:solidFill>
          <a:ln w="12700">
            <a:solidFill>
              <a:srgbClr val="D8CCB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42976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A64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2B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都道府県選択と時刻切替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38912" y="914400"/>
            <a:ext cx="11201400" cy="5440680"/>
          </a:xfrm>
          <a:prstGeom prst="roundRect">
            <a:avLst>
              <a:gd name="adj" fmla="val 840"/>
            </a:avLst>
          </a:prstGeom>
          <a:solidFill>
            <a:srgbClr val="FFFCF8"/>
          </a:solidFill>
          <a:ln w="12700">
            <a:solidFill>
              <a:srgbClr val="D8CC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115568"/>
            <a:ext cx="10744200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都道府県プルダウンから表示対象を選択する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地図とグラフは選択した都道府県に応じて更新される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利用可能な時刻に応じて表示を切り替えられる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キーボードの左右矢印でも時刻を移動できる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642823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5F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土壌雨量指数監視システム クライアント操作マニュアル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A64E36"/>
          </a:solidFill>
          <a:ln w="12700">
            <a:solidFill>
              <a:srgbClr val="A64E3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D8CCB8"/>
          </a:solidFill>
          <a:ln w="12700">
            <a:solidFill>
              <a:srgbClr val="D8CCB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42976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A64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2B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地図とグラフの確認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38912" y="914400"/>
            <a:ext cx="4754880" cy="5321808"/>
          </a:xfrm>
          <a:prstGeom prst="roundRect">
            <a:avLst>
              <a:gd name="adj" fmla="val 962"/>
            </a:avLst>
          </a:prstGeom>
          <a:solidFill>
            <a:srgbClr val="FFFCF8"/>
          </a:solidFill>
          <a:ln w="12700">
            <a:solidFill>
              <a:srgbClr val="D8CC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115568"/>
            <a:ext cx="4315968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地図: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対象時刻の危険度を位置ごとに確認する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グラフ: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地域ごとの危険度を一覧的に確認する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活用方法: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地図で空間的な分布を見る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グラフで地域間の比較を行う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321808" y="914400"/>
            <a:ext cx="6309360" cy="5321808"/>
          </a:xfrm>
          <a:prstGeom prst="roundRect">
            <a:avLst>
              <a:gd name="adj" fmla="val 859"/>
            </a:avLst>
          </a:prstGeom>
          <a:solidFill>
            <a:srgbClr val="FFFCF8"/>
          </a:solidFill>
          <a:ln w="12700">
            <a:solidFill>
              <a:srgbClr val="D8CCB8"/>
            </a:solidFill>
            <a:prstDash val="solid"/>
          </a:ln>
        </p:spPr>
      </p:sp>
      <p:pic>
        <p:nvPicPr>
          <p:cNvPr id="9" name="Image 0" descr="/workspaces/soil-rainfall-index-system/client/docs/manual-assets/02-loaded-scree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04688" y="1097280"/>
            <a:ext cx="5925312" cy="46177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532120" y="58064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6F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画面例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2920" y="642823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5F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土壌雨量指数監視システム クライアント操作マニュアル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A64E36"/>
          </a:solidFill>
          <a:ln w="12700">
            <a:solidFill>
              <a:srgbClr val="A64E3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D8CCB8"/>
          </a:solidFill>
          <a:ln w="12700">
            <a:solidFill>
              <a:srgbClr val="D8CCB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42976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A64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2B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雨量調整機能とは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38912" y="914400"/>
            <a:ext cx="11201400" cy="5440680"/>
          </a:xfrm>
          <a:prstGeom prst="roundRect">
            <a:avLst>
              <a:gd name="adj" fmla="val 840"/>
            </a:avLst>
          </a:prstGeom>
          <a:solidFill>
            <a:srgbClr val="FFFCF8"/>
          </a:solidFill>
          <a:ln w="12700">
            <a:solidFill>
              <a:srgbClr val="D8CC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115568"/>
            <a:ext cx="10744200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雨量調整は、予測雨量を利用者が画面上で修正し、その内容を用いて再計算する機能である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実運用上の想定: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予測値の補正検討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想定シナリオの比較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特定地域の雨量増減を加味した確認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642823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5F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土壌雨量指数監視システム クライアント操作マニュアル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A64E36"/>
          </a:solidFill>
          <a:ln w="12700">
            <a:solidFill>
              <a:srgbClr val="A64E3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D8CCB8"/>
          </a:solidFill>
          <a:ln w="12700">
            <a:solidFill>
              <a:srgbClr val="D8CCB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42976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A64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2B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雨量調整の開始方法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38912" y="914400"/>
            <a:ext cx="4754880" cy="5321808"/>
          </a:xfrm>
          <a:prstGeom prst="roundRect">
            <a:avLst>
              <a:gd name="adj" fmla="val 962"/>
            </a:avLst>
          </a:prstGeom>
          <a:solidFill>
            <a:srgbClr val="FFFCF8"/>
          </a:solidFill>
          <a:ln w="12700">
            <a:solidFill>
              <a:srgbClr val="D8CC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115568"/>
            <a:ext cx="4315968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データ取得後に表示される `雨量調整` ボタンを押す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雨量調整画面が開き、府県別の雨量データを編集できる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必要な府県、表示単位、入力単位を選んで編集を開始する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321808" y="914400"/>
            <a:ext cx="6309360" cy="5321808"/>
          </a:xfrm>
          <a:prstGeom prst="roundRect">
            <a:avLst>
              <a:gd name="adj" fmla="val 859"/>
            </a:avLst>
          </a:prstGeom>
          <a:solidFill>
            <a:srgbClr val="FFFCF8"/>
          </a:solidFill>
          <a:ln w="12700">
            <a:solidFill>
              <a:srgbClr val="D8CCB8"/>
            </a:solidFill>
            <a:prstDash val="solid"/>
          </a:ln>
        </p:spPr>
      </p:sp>
      <p:pic>
        <p:nvPicPr>
          <p:cNvPr id="9" name="Image 0" descr="/workspaces/soil-rainfall-index-system/client/docs/manual-assets/03-rainfall-modal-3hou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04688" y="1097280"/>
            <a:ext cx="5925312" cy="46177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532120" y="58064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6F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画面例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2920" y="642823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5F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土壌雨量指数監視システム クライアント操作マニュアル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A64E36"/>
          </a:solidFill>
          <a:ln w="12700">
            <a:solidFill>
              <a:srgbClr val="A64E3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D8CCB8"/>
          </a:solidFill>
          <a:ln w="12700">
            <a:solidFill>
              <a:srgbClr val="D8CCB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42976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A64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2B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雨量調整画面の見方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38912" y="914400"/>
            <a:ext cx="4754880" cy="5321808"/>
          </a:xfrm>
          <a:prstGeom prst="roundRect">
            <a:avLst>
              <a:gd name="adj" fmla="val 962"/>
            </a:avLst>
          </a:prstGeom>
          <a:solidFill>
            <a:srgbClr val="FFFCF8"/>
          </a:solidFill>
          <a:ln w="12700">
            <a:solidFill>
              <a:srgbClr val="D8CC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115568"/>
            <a:ext cx="4315968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主な操作項目: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入力単位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調整方式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表示切替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府県選択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一括編集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元に戻す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表形式で各地域と時刻ごとの雨量値を編集できる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321808" y="914400"/>
            <a:ext cx="6309360" cy="5321808"/>
          </a:xfrm>
          <a:prstGeom prst="roundRect">
            <a:avLst>
              <a:gd name="adj" fmla="val 859"/>
            </a:avLst>
          </a:prstGeom>
          <a:solidFill>
            <a:srgbClr val="FFFCF8"/>
          </a:solidFill>
          <a:ln w="12700">
            <a:solidFill>
              <a:srgbClr val="D8CCB8"/>
            </a:solidFill>
            <a:prstDash val="solid"/>
          </a:ln>
        </p:spPr>
      </p:sp>
      <p:pic>
        <p:nvPicPr>
          <p:cNvPr id="9" name="Image 0" descr="/workspaces/soil-rainfall-index-system/client/docs/manual-assets/03-rainfall-modal-3hou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04688" y="1097280"/>
            <a:ext cx="5925312" cy="46177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532120" y="58064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6F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画面例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2920" y="642823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5F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土壌雨量指数監視システム クライアント操作マニュアル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A64E36"/>
          </a:solidFill>
          <a:ln w="12700">
            <a:solidFill>
              <a:srgbClr val="A64E3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D8CCB8"/>
          </a:solidFill>
          <a:ln w="12700">
            <a:solidFill>
              <a:srgbClr val="D8CCB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42976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A64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2B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入力単位の説明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38912" y="914400"/>
            <a:ext cx="4754880" cy="5321808"/>
          </a:xfrm>
          <a:prstGeom prst="roundRect">
            <a:avLst>
              <a:gd name="adj" fmla="val 962"/>
            </a:avLst>
          </a:prstGeom>
          <a:solidFill>
            <a:srgbClr val="FFFCF8"/>
          </a:solidFill>
          <a:ln w="12700">
            <a:solidFill>
              <a:srgbClr val="D8CC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115568"/>
            <a:ext cx="4315968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`3時間ごと`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3時間単位の雨量を直接編集する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細かな時間帯ごとの修正に向く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`24時間合計`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24時間の合計雨量として編集する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長時間の累積雨量を基準に調整したい場合に向く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321808" y="914400"/>
            <a:ext cx="6309360" cy="5321808"/>
          </a:xfrm>
          <a:prstGeom prst="roundRect">
            <a:avLst>
              <a:gd name="adj" fmla="val 859"/>
            </a:avLst>
          </a:prstGeom>
          <a:solidFill>
            <a:srgbClr val="FFFCF8"/>
          </a:solidFill>
          <a:ln w="12700">
            <a:solidFill>
              <a:srgbClr val="D8CCB8"/>
            </a:solidFill>
            <a:prstDash val="solid"/>
          </a:ln>
        </p:spPr>
      </p:sp>
      <p:pic>
        <p:nvPicPr>
          <p:cNvPr id="9" name="Image 0" descr="/workspaces/soil-rainfall-index-system/client/docs/manual-assets/03-rainfall-modal-3hou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04688" y="1097280"/>
            <a:ext cx="5925312" cy="46177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532120" y="58064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6F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画面例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2920" y="642823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5F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土壌雨量指数監視システム クライアント操作マニュアル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A64E36"/>
          </a:solidFill>
          <a:ln w="12700">
            <a:solidFill>
              <a:srgbClr val="A64E3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D8CCB8"/>
          </a:solidFill>
          <a:ln w="12700">
            <a:solidFill>
              <a:srgbClr val="D8CCB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42976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A64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2B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調整方式の説明 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38912" y="914400"/>
            <a:ext cx="11201400" cy="5440680"/>
          </a:xfrm>
          <a:prstGeom prst="roundRect">
            <a:avLst>
              <a:gd name="adj" fmla="val 840"/>
            </a:avLst>
          </a:prstGeom>
          <a:solidFill>
            <a:srgbClr val="FFFCF8"/>
          </a:solidFill>
          <a:ln w="12700">
            <a:solidFill>
              <a:srgbClr val="D8CC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115568"/>
            <a:ext cx="10744200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3時間ごと入力で選べる方式: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`比率補正`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`塗りつぶし`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比率補正: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元の雨量分布の傾向を保ちながら、入力値に合わせて補正する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塗りつぶし: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指定した時間帯の値を、入力した値で直接置き換える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642823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5F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土壌雨量指数監視システム クライアント操作マニュアル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A64E36"/>
          </a:solidFill>
          <a:ln w="12700">
            <a:solidFill>
              <a:srgbClr val="A64E3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D8CCB8"/>
          </a:solidFill>
          <a:ln w="12700">
            <a:solidFill>
              <a:srgbClr val="D8CCB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42976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A64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2B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調整方式の説明 2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38912" y="914400"/>
            <a:ext cx="4754880" cy="5321808"/>
          </a:xfrm>
          <a:prstGeom prst="roundRect">
            <a:avLst>
              <a:gd name="adj" fmla="val 962"/>
            </a:avLst>
          </a:prstGeom>
          <a:solidFill>
            <a:srgbClr val="FFFCF8"/>
          </a:solidFill>
          <a:ln w="12700">
            <a:solidFill>
              <a:srgbClr val="D8CC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115568"/>
            <a:ext cx="4315968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24時間合計入力で選べる方式: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`均等按分して塗りつぶし`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`均等按分して比率補正`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`最大24時間格子基準で比率補正`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均等按分して塗りつぶし: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24時間合計を均等に配分して反映する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均等按分して比率補正: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24時間合計を均等配分しつつ、元の値との比率で補正する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最大24時間格子基準で比率補正: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24時間のピーク格子を基準として補正する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321808" y="914400"/>
            <a:ext cx="6309360" cy="5321808"/>
          </a:xfrm>
          <a:prstGeom prst="roundRect">
            <a:avLst>
              <a:gd name="adj" fmla="val 859"/>
            </a:avLst>
          </a:prstGeom>
          <a:solidFill>
            <a:srgbClr val="FFFCF8"/>
          </a:solidFill>
          <a:ln w="12700">
            <a:solidFill>
              <a:srgbClr val="D8CCB8"/>
            </a:solidFill>
            <a:prstDash val="solid"/>
          </a:ln>
        </p:spPr>
      </p:sp>
      <p:pic>
        <p:nvPicPr>
          <p:cNvPr id="9" name="Image 0" descr="/workspaces/soil-rainfall-index-system/client/docs/manual-assets/04-rainfall-modal-24hou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04688" y="1097280"/>
            <a:ext cx="5925312" cy="46177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532120" y="58064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6F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画面例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2920" y="642823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5F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土壌雨量指数監視システム クライアント操作マニュアル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A64E36"/>
          </a:solidFill>
          <a:ln w="12700">
            <a:solidFill>
              <a:srgbClr val="A64E3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D8CCB8"/>
          </a:solidFill>
          <a:ln w="12700">
            <a:solidFill>
              <a:srgbClr val="D8CCB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42976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A64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2B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表示切替の説明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38912" y="914400"/>
            <a:ext cx="11201400" cy="5440680"/>
          </a:xfrm>
          <a:prstGeom prst="roundRect">
            <a:avLst>
              <a:gd name="adj" fmla="val 840"/>
            </a:avLst>
          </a:prstGeom>
          <a:solidFill>
            <a:srgbClr val="FFFCF8"/>
          </a:solidFill>
          <a:ln w="12700">
            <a:solidFill>
              <a:srgbClr val="D8CC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115568"/>
            <a:ext cx="10744200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`市町村別`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市町村単位で雨量を確認、編集する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`二次細分別`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より細かい区分で雨量を確認、編集する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使い分け: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広く確認したい場合は市町村別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詳細に調整したい場合は二次細分別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642823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5F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土壌雨量指数監視システム クライアント操作マニュアル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A64E36"/>
          </a:solidFill>
          <a:ln w="12700">
            <a:solidFill>
              <a:srgbClr val="A64E3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D8CCB8"/>
          </a:solidFill>
          <a:ln w="12700">
            <a:solidFill>
              <a:srgbClr val="D8CCB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42976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A64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2B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雨量の編集方法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38912" y="914400"/>
            <a:ext cx="11201400" cy="5440680"/>
          </a:xfrm>
          <a:prstGeom prst="roundRect">
            <a:avLst>
              <a:gd name="adj" fmla="val 840"/>
            </a:avLst>
          </a:prstGeom>
          <a:solidFill>
            <a:srgbClr val="FFFCF8"/>
          </a:solidFill>
          <a:ln w="12700">
            <a:solidFill>
              <a:srgbClr val="D8CC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115568"/>
            <a:ext cx="10744200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操作方法: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編集したいセルを選択する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値を入力する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必要に応じて複数セルを選択する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画面上では修正セル数も確認できる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現在の府県と全体の修正数が表示される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642823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5F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土壌雨量指数監視システム クライアント操作マニュアル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A64E36"/>
          </a:solidFill>
          <a:ln w="12700">
            <a:solidFill>
              <a:srgbClr val="A64E3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D8CCB8"/>
          </a:solidFill>
          <a:ln w="12700">
            <a:solidFill>
              <a:srgbClr val="D8CCB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42976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A64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2B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一括編集の使い方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38912" y="914400"/>
            <a:ext cx="11201400" cy="5440680"/>
          </a:xfrm>
          <a:prstGeom prst="roundRect">
            <a:avLst>
              <a:gd name="adj" fmla="val 840"/>
            </a:avLst>
          </a:prstGeom>
          <a:solidFill>
            <a:srgbClr val="FFFCF8"/>
          </a:solidFill>
          <a:ln w="12700">
            <a:solidFill>
              <a:srgbClr val="D8CC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115568"/>
            <a:ext cx="10744200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複数セルを選択した状態で `一括編集` を押す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同じ値を複数のセルへ一度に設定できる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同一条件でまとめて補正したい場合に有効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642823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5F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土壌雨量指数監視システム クライアント操作マニュアル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A64E36"/>
          </a:solidFill>
          <a:ln w="12700">
            <a:solidFill>
              <a:srgbClr val="A64E3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D8CCB8"/>
          </a:solidFill>
          <a:ln w="12700">
            <a:solidFill>
              <a:srgbClr val="D8CCB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42976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A64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2B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選択解除と元に戻す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38912" y="914400"/>
            <a:ext cx="11201400" cy="5440680"/>
          </a:xfrm>
          <a:prstGeom prst="roundRect">
            <a:avLst>
              <a:gd name="adj" fmla="val 840"/>
            </a:avLst>
          </a:prstGeom>
          <a:solidFill>
            <a:srgbClr val="FFFCF8"/>
          </a:solidFill>
          <a:ln w="12700">
            <a:solidFill>
              <a:srgbClr val="D8CC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115568"/>
            <a:ext cx="10744200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`選択解除`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現在選択中のセルを解除する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`元に戻す`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編集内容を元の値へ戻す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注意: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意図しない編集を行った場合は、再計算前に見直す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642823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5F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土壌雨量指数監視システム クライアント操作マニュアル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A64E36"/>
          </a:solidFill>
          <a:ln w="12700">
            <a:solidFill>
              <a:srgbClr val="A64E3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D8CCB8"/>
          </a:solidFill>
          <a:ln w="12700">
            <a:solidFill>
              <a:srgbClr val="D8CCB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42976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A64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2B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再計算結果の確認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38912" y="914400"/>
            <a:ext cx="4754880" cy="5321808"/>
          </a:xfrm>
          <a:prstGeom prst="roundRect">
            <a:avLst>
              <a:gd name="adj" fmla="val 962"/>
            </a:avLst>
          </a:prstGeom>
          <a:solidFill>
            <a:srgbClr val="FFFCF8"/>
          </a:solidFill>
          <a:ln w="12700">
            <a:solidFill>
              <a:srgbClr val="D8CC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115568"/>
            <a:ext cx="4315968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雨量調整後は再計算が行われる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再計算後の結果は、通常結果とは別の調整済みデータとして表示される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地図、グラフ、時刻切替で調整後結果を確認できる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321808" y="914400"/>
            <a:ext cx="6309360" cy="5321808"/>
          </a:xfrm>
          <a:prstGeom prst="roundRect">
            <a:avLst>
              <a:gd name="adj" fmla="val 859"/>
            </a:avLst>
          </a:prstGeom>
          <a:solidFill>
            <a:srgbClr val="FFFCF8"/>
          </a:solidFill>
          <a:ln w="12700">
            <a:solidFill>
              <a:srgbClr val="D8CCB8"/>
            </a:solidFill>
            <a:prstDash val="solid"/>
          </a:ln>
        </p:spPr>
      </p:sp>
      <p:pic>
        <p:nvPicPr>
          <p:cNvPr id="9" name="Image 0" descr="/workspaces/soil-rainfall-index-system/client/docs/manual-assets/05-adjusted-resul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04688" y="1097280"/>
            <a:ext cx="5925312" cy="46177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532120" y="58064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6F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画面例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2920" y="642823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5F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土壌雨量指数監視システム クライアント操作マニュアル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A64E36"/>
          </a:solidFill>
          <a:ln w="12700">
            <a:solidFill>
              <a:srgbClr val="A64E3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D8CCB8"/>
          </a:solidFill>
          <a:ln w="12700">
            <a:solidFill>
              <a:srgbClr val="D8CCB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42976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A64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22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2B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利用時の注意点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38912" y="914400"/>
            <a:ext cx="11201400" cy="5440680"/>
          </a:xfrm>
          <a:prstGeom prst="roundRect">
            <a:avLst>
              <a:gd name="adj" fmla="val 840"/>
            </a:avLst>
          </a:prstGeom>
          <a:solidFill>
            <a:srgbClr val="FFFCF8"/>
          </a:solidFill>
          <a:ln w="12700">
            <a:solidFill>
              <a:srgbClr val="D8CC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115568"/>
            <a:ext cx="10744200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データ取得には時間がかかる場合がある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利用可能時刻外のデータは取得できない場合がある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雨量調整後の結果は、編集内容に依存する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比較確認を行う場合は、元データと調整後データを区別して扱う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642823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5F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土壌雨量指数監視システム クライアント操作マニュアル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A64E36"/>
          </a:solidFill>
          <a:ln w="12700">
            <a:solidFill>
              <a:srgbClr val="A64E3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D8CCB8"/>
          </a:solidFill>
          <a:ln w="12700">
            <a:solidFill>
              <a:srgbClr val="D8CCB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42976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A64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23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2B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よくある利用例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38912" y="914400"/>
            <a:ext cx="11201400" cy="5440680"/>
          </a:xfrm>
          <a:prstGeom prst="roundRect">
            <a:avLst>
              <a:gd name="adj" fmla="val 840"/>
            </a:avLst>
          </a:prstGeom>
          <a:solidFill>
            <a:srgbClr val="FFFCF8"/>
          </a:solidFill>
          <a:ln w="12700">
            <a:solidFill>
              <a:srgbClr val="D8CC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115568"/>
            <a:ext cx="10744200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例1: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特定府県の危険度を確認して時刻ごとの推移を見る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例2: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想定雨量を上乗せして危険度変化を確認する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例3: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24時間合計雨量を補正して広域的な影響を比較する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642823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5F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土壌雨量指数監視システム クライアント操作マニュアル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A64E36"/>
          </a:solidFill>
          <a:ln w="12700">
            <a:solidFill>
              <a:srgbClr val="A64E3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D8CCB8"/>
          </a:solidFill>
          <a:ln w="12700">
            <a:solidFill>
              <a:srgbClr val="D8CCB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42976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A64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24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2B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問い合わせ・補足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38912" y="914400"/>
            <a:ext cx="11201400" cy="5440680"/>
          </a:xfrm>
          <a:prstGeom prst="roundRect">
            <a:avLst>
              <a:gd name="adj" fmla="val 840"/>
            </a:avLst>
          </a:prstGeom>
          <a:solidFill>
            <a:srgbClr val="FFFCF8"/>
          </a:solidFill>
          <a:ln w="12700">
            <a:solidFill>
              <a:srgbClr val="D8CC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115568"/>
            <a:ext cx="10744200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不明点がある場合は運用担当者へ確認する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本資料の画面例は更新により変更される場合がある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F34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実運用時は最新の手順と画面を基準にする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642823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5F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土壌雨量指数監視システム クライアント操作マニュアル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土壌雨量指数監視システム 操作マニュアル</dc:title>
  <dc:subject>土壌雨量指数監視システム クライアント操作マニュアル</dc:subject>
  <dc:creator>OpenAI Codex</dc:creator>
  <cp:lastModifiedBy>OpenAI Codex</cp:lastModifiedBy>
  <cp:revision>1</cp:revision>
  <dcterms:created xsi:type="dcterms:W3CDTF">2026-04-30T07:33:37Z</dcterms:created>
  <dcterms:modified xsi:type="dcterms:W3CDTF">2026-04-30T07:33:37Z</dcterms:modified>
</cp:coreProperties>
</file>